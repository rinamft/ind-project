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4630400" cy="8229600"/>
  <p:notesSz cx="8229600" cy="14630400"/>
  <p:embeddedFontLst>
    <p:embeddedFont>
      <p:font typeface="Barlow Bold" panose="00000800000000000000" pitchFamily="2" charset="0"/>
      <p:bold r:id="rId12"/>
    </p:embeddedFont>
    <p:embeddedFont>
      <p:font typeface="Montserrat" panose="00000500000000000000" pitchFamily="2" charset="-52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2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91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1431" y="1371427"/>
            <a:ext cx="8017556" cy="4779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Яндекс Диск как виртуальное </a:t>
            </a:r>
            <a:r>
              <a:rPr lang="en-US" sz="7200" b="1" dirty="0" err="1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рабочее</a:t>
            </a:r>
            <a:r>
              <a:rPr lang="en-US" sz="7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7200" b="1" dirty="0" err="1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место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758309" y="3882509"/>
            <a:ext cx="762738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51431" y="4774514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Выполнила студентка 115 группы </a:t>
            </a:r>
            <a:r>
              <a:rPr lang="ru-RU" sz="17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Муцурка</a:t>
            </a:r>
            <a:r>
              <a:rPr lang="ru-RU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Арина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664131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Облачные хранилища: </a:t>
            </a:r>
            <a:r>
              <a:rPr lang="en-US" sz="4450" b="1" dirty="0" err="1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виды</a:t>
            </a: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ru-RU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 типы хранения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393603"/>
            <a:ext cx="7627382" cy="2110859"/>
          </a:xfrm>
          <a:prstGeom prst="roundRect">
            <a:avLst>
              <a:gd name="adj" fmla="val 9238"/>
            </a:avLst>
          </a:prstGeom>
          <a:solidFill>
            <a:srgbClr val="EEEFF5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004546" y="257591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Виды</a:t>
            </a: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</a:t>
            </a: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облаков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973723" y="3100093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Публичные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2224" y="3510975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Частные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74884" y="3866165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Гибридные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58309" y="4815602"/>
            <a:ext cx="7627382" cy="2110859"/>
          </a:xfrm>
          <a:prstGeom prst="roundRect">
            <a:avLst>
              <a:gd name="adj" fmla="val 9238"/>
            </a:avLst>
          </a:prstGeom>
          <a:solidFill>
            <a:srgbClr val="EEEFF5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74884" y="503819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Типы хранения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974884" y="5524322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Файловые (облачные папки)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74884" y="5946756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Блочные (облачные диски)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74884" y="6369190"/>
            <a:ext cx="719423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Объектные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0915" y="898327"/>
            <a:ext cx="7842171" cy="1835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Актуальность облачных хранилищ в современном рабочем процессе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50915" y="3012519"/>
            <a:ext cx="418505" cy="418505"/>
          </a:xfrm>
          <a:prstGeom prst="roundRect">
            <a:avLst>
              <a:gd name="adj" fmla="val 40000"/>
            </a:avLst>
          </a:prstGeom>
          <a:solidFill>
            <a:srgbClr val="EEEFF5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5720" dist="2286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255395" y="3076456"/>
            <a:ext cx="3200400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Удалённый доступ и совместная работа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255395" y="3799999"/>
            <a:ext cx="3200400" cy="208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Облачные хранилища позволяют работать с файлами из любой точки мира и с любого устройства, упрощая совместное редактирование и обмен данными в реальном времени.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88205" y="3012519"/>
            <a:ext cx="418505" cy="418505"/>
          </a:xfrm>
          <a:prstGeom prst="roundRect">
            <a:avLst>
              <a:gd name="adj" fmla="val 40000"/>
            </a:avLst>
          </a:prstGeom>
          <a:solidFill>
            <a:srgbClr val="EEEFF5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5720" dist="2286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292685" y="3076456"/>
            <a:ext cx="3200400" cy="61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Масштабируемость и гибкость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292685" y="3799999"/>
            <a:ext cx="3200400" cy="1487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могут легко регулировать объём хранилища и выбирать тарифы под свои нужды без затрат на локальное оборудование.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50915" y="6254710"/>
            <a:ext cx="418505" cy="418505"/>
          </a:xfrm>
          <a:prstGeom prst="roundRect">
            <a:avLst>
              <a:gd name="adj" fmla="val 40000"/>
            </a:avLst>
          </a:prstGeom>
          <a:solidFill>
            <a:srgbClr val="EEEFF5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45720" dist="2286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255395" y="6318647"/>
            <a:ext cx="5144929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Безопасность и резервное копирование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255395" y="6736199"/>
            <a:ext cx="7237690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Автоматическое резервное копирование и многоуровневая защита данных минимизируют риски потери информации.</a:t>
            </a:r>
            <a:endParaRPr lang="en-US" sz="1450" dirty="0"/>
          </a:p>
        </p:txBody>
      </p:sp>
      <p:pic>
        <p:nvPicPr>
          <p:cNvPr id="16" name="Рисунок 15" descr="Изображение выглядит как свет, Неон, лампа, ночь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98BE391-7C22-49E9-AA78-CB98E9907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071" y="-15461"/>
            <a:ext cx="5957943" cy="82450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28786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Основные функции и возможности Яндекс Диска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70978" y="335272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4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Функции сервиса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70978" y="415087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Редактирование текста и таблиц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70978" y="4573311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Создание и обмен ссылками и QR-кодами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70978" y="4995745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Упорядочивание файлов в папках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0978" y="5418178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Синхронизация и управление почтой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866850" y="343205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4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Особенности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866850" y="4114147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Гб бесплатного пространства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866850" y="4536581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Простота интерфейса и веб-доступ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66850" y="4959015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Поддержка </a:t>
            </a:r>
            <a:r>
              <a:rPr lang="en-US" sz="24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разных</a:t>
            </a: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dirty="0" err="1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устройств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866850" y="5381448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Автоматическая проверка на вирусы</a:t>
            </a:r>
            <a:endParaRPr lang="en-US" sz="24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1800DCB-5BEF-FC41-569C-07C7D8538222}"/>
              </a:ext>
            </a:extLst>
          </p:cNvPr>
          <p:cNvSpPr/>
          <p:nvPr/>
        </p:nvSpPr>
        <p:spPr>
          <a:xfrm>
            <a:off x="12645508" y="7239000"/>
            <a:ext cx="1886920" cy="914400"/>
          </a:xfrm>
          <a:prstGeom prst="rect">
            <a:avLst/>
          </a:prstGeom>
          <a:solidFill>
            <a:srgbClr val="EEEFF5"/>
          </a:solidFill>
          <a:ln>
            <a:solidFill>
              <a:srgbClr val="EEEF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416" y="2754107"/>
            <a:ext cx="4589740" cy="4589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327" y="2875119"/>
            <a:ext cx="4589740" cy="4589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1779" y="2870284"/>
            <a:ext cx="4589740" cy="4589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 0"/>
          <p:cNvSpPr/>
          <p:nvPr/>
        </p:nvSpPr>
        <p:spPr>
          <a:xfrm>
            <a:off x="789758" y="644296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Преимущества Яндекс Диска как виртуального рабочего места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58309" y="3585651"/>
            <a:ext cx="440802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Централизованное хранение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58309" y="3978950"/>
            <a:ext cx="426196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 к файлам с любого устройства и из любой точки мира</a:t>
            </a: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1780" y="2749272"/>
            <a:ext cx="4589740" cy="4589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277492" y="3901469"/>
            <a:ext cx="304681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350" dirty="0"/>
          </a:p>
        </p:txBody>
      </p:sp>
      <p:sp>
        <p:nvSpPr>
          <p:cNvPr id="7" name="Text 4"/>
          <p:cNvSpPr/>
          <p:nvPr/>
        </p:nvSpPr>
        <p:spPr>
          <a:xfrm>
            <a:off x="9610011" y="3477388"/>
            <a:ext cx="287369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Совместная работа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610011" y="3800832"/>
            <a:ext cx="426208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Онлайн-редактирование и общие папки для команд.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178850" y="3895531"/>
            <a:ext cx="304681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350" dirty="0"/>
          </a:p>
        </p:txBody>
      </p:sp>
      <p:sp>
        <p:nvSpPr>
          <p:cNvPr id="11" name="Text 7"/>
          <p:cNvSpPr/>
          <p:nvPr/>
        </p:nvSpPr>
        <p:spPr>
          <a:xfrm>
            <a:off x="9610011" y="5936337"/>
            <a:ext cx="359509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Синхронизация данных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9610011" y="6258163"/>
            <a:ext cx="426208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Автоматическое обновление файлов между устройствами.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8185196" y="5936337"/>
            <a:ext cx="304681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350" dirty="0"/>
          </a:p>
        </p:txBody>
      </p:sp>
      <p:sp>
        <p:nvSpPr>
          <p:cNvPr id="15" name="Text 10"/>
          <p:cNvSpPr/>
          <p:nvPr/>
        </p:nvSpPr>
        <p:spPr>
          <a:xfrm>
            <a:off x="1647111" y="5921548"/>
            <a:ext cx="3373160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Управление версиями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758309" y="6258163"/>
            <a:ext cx="4261961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изменений и возможность отката к предыдущим версиям.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6184809" y="5936337"/>
            <a:ext cx="304681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3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087741E-B7C1-2DCE-1F66-87396CDE453F}"/>
              </a:ext>
            </a:extLst>
          </p:cNvPr>
          <p:cNvSpPr/>
          <p:nvPr/>
        </p:nvSpPr>
        <p:spPr>
          <a:xfrm>
            <a:off x="12645508" y="7239000"/>
            <a:ext cx="1886920" cy="914400"/>
          </a:xfrm>
          <a:prstGeom prst="rect">
            <a:avLst/>
          </a:prstGeom>
          <a:solidFill>
            <a:srgbClr val="EEEFF5"/>
          </a:solidFill>
          <a:ln>
            <a:solidFill>
              <a:srgbClr val="EEEF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2922" y="586978"/>
            <a:ext cx="8076844" cy="280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6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Дополнительные возможности и безопасность Яндекс Диска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6232922" y="3713440"/>
            <a:ext cx="479822" cy="479822"/>
          </a:xfrm>
          <a:prstGeom prst="roundRect">
            <a:avLst>
              <a:gd name="adj" fmla="val 40009"/>
            </a:avLst>
          </a:prstGeom>
          <a:solidFill>
            <a:srgbClr val="EEEFF5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2070" dist="2540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925985" y="3786664"/>
            <a:ext cx="2999184" cy="70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Резервное копирование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925985" y="4616053"/>
            <a:ext cx="2999184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данных от потери благодаря хранению на серверах Яндекса.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91750" y="3713440"/>
            <a:ext cx="479822" cy="479822"/>
          </a:xfrm>
          <a:prstGeom prst="roundRect">
            <a:avLst>
              <a:gd name="adj" fmla="val 40009"/>
            </a:avLst>
          </a:prstGeom>
          <a:solidFill>
            <a:srgbClr val="EEEFF5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2070" dist="2540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884813" y="3713440"/>
            <a:ext cx="2999184" cy="701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Кроссплатформенность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0884813" y="4484732"/>
            <a:ext cx="2999184" cy="1365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Доступ через веб, приложения для Windows, macOS, Linux, iOS и Android.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32922" y="6280190"/>
            <a:ext cx="479822" cy="479822"/>
          </a:xfrm>
          <a:prstGeom prst="roundRect">
            <a:avLst>
              <a:gd name="adj" fmla="val 40009"/>
            </a:avLst>
          </a:prstGeom>
          <a:solidFill>
            <a:srgbClr val="EEEFF5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2070" dist="2540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25985" y="6353413"/>
            <a:ext cx="2806541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Экономичность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925985" y="6832044"/>
            <a:ext cx="6957893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Бесплатный объём и доступные тарифы для расширения пространства.</a:t>
            </a:r>
            <a:endParaRPr lang="en-US" sz="16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4845594-5EBB-FA21-03D2-21ECE60E04EE}"/>
              </a:ext>
            </a:extLst>
          </p:cNvPr>
          <p:cNvSpPr/>
          <p:nvPr/>
        </p:nvSpPr>
        <p:spPr>
          <a:xfrm>
            <a:off x="12743479" y="7254835"/>
            <a:ext cx="1886920" cy="914400"/>
          </a:xfrm>
          <a:prstGeom prst="rect">
            <a:avLst/>
          </a:prstGeom>
          <a:solidFill>
            <a:srgbClr val="EEEFF5"/>
          </a:solidFill>
          <a:ln>
            <a:solidFill>
              <a:srgbClr val="EEEF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Рисунок 20" descr="Изображение выглядит как логотип, текст, График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75280A6-5244-B97E-4C69-58B2FD279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0"/>
            <a:ext cx="5486399" cy="82522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707841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6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Инструменты и методы визуального проектирования презентации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48314" y="4101584"/>
            <a:ext cx="317146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Использование Canva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48314" y="4674393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Интуитивный интерфейс, шаблоны и элементы дизайна для создания презентации.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48314" y="5909429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Перетаскивание, редактирование текста и добавление иконок для наглядности.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7144" y="4047350"/>
            <a:ext cx="505848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3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Цветовая палитра и типографика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7144" y="4674393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Яркие</a:t>
            </a: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цвета с акцентами для выделения ключевых элементов.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7144" y="5909429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Легко читаемые шрифты для комфортного восприятия на разных устройствах.</a:t>
            </a:r>
            <a:endParaRPr lang="en-US" sz="24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C9114E6-B3D7-47F7-EEF3-2CFD0A3A4A80}"/>
              </a:ext>
            </a:extLst>
          </p:cNvPr>
          <p:cNvSpPr/>
          <p:nvPr/>
        </p:nvSpPr>
        <p:spPr>
          <a:xfrm>
            <a:off x="12743480" y="7315200"/>
            <a:ext cx="1886920" cy="914400"/>
          </a:xfrm>
          <a:prstGeom prst="rect">
            <a:avLst/>
          </a:prstGeom>
          <a:solidFill>
            <a:srgbClr val="EEEFF5"/>
          </a:solidFill>
          <a:ln>
            <a:solidFill>
              <a:srgbClr val="EEEF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BC91A60-273D-036D-307F-C5B32DBC5C88}"/>
              </a:ext>
            </a:extLst>
          </p:cNvPr>
          <p:cNvSpPr/>
          <p:nvPr/>
        </p:nvSpPr>
        <p:spPr>
          <a:xfrm>
            <a:off x="12686103" y="7318399"/>
            <a:ext cx="1886920" cy="914400"/>
          </a:xfrm>
          <a:prstGeom prst="rect">
            <a:avLst/>
          </a:prstGeom>
          <a:solidFill>
            <a:srgbClr val="EEEFF5"/>
          </a:solidFill>
          <a:ln>
            <a:solidFill>
              <a:srgbClr val="EEEF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C91C9BCB-7767-0E30-0D7F-3FA75464A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355" y="5257761"/>
            <a:ext cx="5295354" cy="297068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4007A5D-FD58-C361-9B09-47887374A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036" y="4464526"/>
            <a:ext cx="5599993" cy="315310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C04FFB4-D0D8-F0A1-531B-6959C1DA4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705" y="3231721"/>
            <a:ext cx="5780656" cy="3271583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D5A93D5-D387-B4B6-BB4A-641F791577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673" y="1982045"/>
            <a:ext cx="5942721" cy="30949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258" y="1053205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6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Структура и дизайн презентации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563683" y="3098282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267700" y="3172696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Логическая организация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267700" y="4015063"/>
            <a:ext cx="29743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Презентация разбита на тематические блоки с чёткими заголовками.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12748" y="3098282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216765" y="3172696"/>
            <a:ext cx="2974300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Визуальные элементы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216765" y="4015063"/>
            <a:ext cx="297430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Иконки и цвета помогают выделить ключевые функции и улучшить восприятие.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63683" y="5835172"/>
            <a:ext cx="487442" cy="487442"/>
          </a:xfrm>
          <a:prstGeom prst="roundRect">
            <a:avLst>
              <a:gd name="adj" fmla="val 40004"/>
            </a:avLst>
          </a:prstGeom>
          <a:solidFill>
            <a:srgbClr val="EEEFF5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267700" y="590958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Адаптивность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267700" y="6395718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Дизайн учитывает потребности целевой аудитории и удобство чтения.</a:t>
            </a:r>
            <a:endParaRPr lang="en-US" sz="20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47E27B8-33AA-D5C9-A358-E0D9D3BCE7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4480" y="406522"/>
            <a:ext cx="6075866" cy="3416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44709" y="97202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Заключение и ключевые выводы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722364"/>
            <a:ext cx="162401" cy="117955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732032" y="2722364"/>
            <a:ext cx="319635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Анализ Яндекс Диска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32032" y="3208496"/>
            <a:ext cx="714005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Выявлены функциональные возможности и интеграция с другими сервисами.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569631" y="4118491"/>
            <a:ext cx="162401" cy="117955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56953" y="4118491"/>
            <a:ext cx="352972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Преимущества сервиса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056953" y="4604623"/>
            <a:ext cx="681513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Простота интерфейса, безопасность и удобство совместной работы.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94671" y="5514618"/>
            <a:ext cx="162401" cy="1526262"/>
          </a:xfrm>
          <a:prstGeom prst="roundRect">
            <a:avLst>
              <a:gd name="adj" fmla="val 120071"/>
            </a:avLst>
          </a:prstGeom>
          <a:solidFill>
            <a:srgbClr val="EEEFF5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3340" dist="26670" dir="13500000" algn="bl" rotWithShape="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81994" y="55146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Рекомендации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381994" y="6000750"/>
            <a:ext cx="649009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Яндекс Диск подходит для организации удалённой и гибридной работы индивидуальных пользователей и команд.</a:t>
            </a:r>
            <a:endParaRPr lang="en-US" sz="17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DA6BC24-F434-BB1D-1A97-E45B0FE7073C}"/>
              </a:ext>
            </a:extLst>
          </p:cNvPr>
          <p:cNvSpPr/>
          <p:nvPr/>
        </p:nvSpPr>
        <p:spPr>
          <a:xfrm>
            <a:off x="12743480" y="7286387"/>
            <a:ext cx="1886920" cy="914400"/>
          </a:xfrm>
          <a:prstGeom prst="rect">
            <a:avLst/>
          </a:prstGeom>
          <a:solidFill>
            <a:srgbClr val="EEEFF5"/>
          </a:solidFill>
          <a:ln>
            <a:solidFill>
              <a:srgbClr val="EEEF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Рисунок 14" descr="Изображение выглядит как Графика, графическая вставка, дизайн, иллюстрац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8E5F925-9F13-3A6E-6DC3-20EC574A5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2" y="1003251"/>
            <a:ext cx="6648868" cy="66488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392</Words>
  <Application>Microsoft Office PowerPoint</Application>
  <PresentationFormat>Произвольный</PresentationFormat>
  <Paragraphs>79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Barlow Bold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ффффф ииииии</cp:lastModifiedBy>
  <cp:revision>2</cp:revision>
  <dcterms:created xsi:type="dcterms:W3CDTF">2025-05-13T05:33:48Z</dcterms:created>
  <dcterms:modified xsi:type="dcterms:W3CDTF">2025-05-13T20:23:20Z</dcterms:modified>
</cp:coreProperties>
</file>